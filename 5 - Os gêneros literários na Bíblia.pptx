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7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2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de notas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&lt;cabeçalho&gt;</a:t>
            </a:r>
          </a:p>
        </p:txBody>
      </p:sp>
      <p:sp>
        <p:nvSpPr>
          <p:cNvPr id="39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C8588ED7-2DE3-4996-8D46-5873E0B5C5A7}" type="slidenum">
              <a:rPr lang="en-US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pPr algn="r"/>
              <a:t>‹nº›</a:t>
            </a:fld>
            <a:endParaRPr lang="en-US" sz="1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62B87A4-0C99-4AD1-97CA-9C289CA63796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62B87A4-0C99-4AD1-97CA-9C289CA63796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2708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7044C5C-8F5C-432A-88CD-306FDA2A0C01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19CCF38-2471-4852-BD4A-F5F48DCF4AAD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4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661850BF-08AB-41FD-A3AE-C3ED2F176D69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5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91BBD8D-F240-4B70-A7F1-98338B02A03D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6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35F8DB61-1CF7-4EB9-B9CE-ED7F61C07D2A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7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6B53B11E-17B9-41EF-9B22-4CDEDB210669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F1BCF188-5258-4E70-99B6-D20E3C26E20C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9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DB9E3DE-D179-403E-BE2C-EBEC7CBE8CD5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10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EF29A7E-5222-4D8A-A5A1-7E705141A12E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EBCFD084-FF08-4A0A-9C59-DB2C328B701A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12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74F4BCC-90E0-48F3-88E6-0A87933BC236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13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8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F99F94C-4536-4E68-9A19-17E250D73440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14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0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E0A4FB6-1E50-4460-B861-174B7D6F04C7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15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2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C6E29E9-D683-4454-8F52-404CFF860E54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16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16F6B493-8613-45F7-A237-5238F8C35C38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17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127F4747-9681-4A40-9C16-0918E7CEB2FA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18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0225EC04-4064-473D-9310-7885E43CC233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19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0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407ECD3D-9C4A-4A46-B330-12FF7AD576C8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20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2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03355C84-A7B0-4383-B2C4-66E560E80AF6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21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4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C48A3557-677A-4F4F-8B58-BC90D02539CD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22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6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BB6C485E-66EC-4604-ACA3-868D0A237AC3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23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20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3884760" y="8685360"/>
            <a:ext cx="2970360" cy="455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D9E7F0A7-5EAA-47B9-A6BA-ACB0C9FC8394}" type="slidenum">
              <a:rPr lang="en-US" sz="1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+mn-ea"/>
              </a:rPr>
              <a:pPr algn="r">
                <a:lnSpc>
                  <a:spcPct val="100000"/>
                </a:lnSpc>
              </a:pPr>
              <a:t>24</a:t>
            </a:fld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5" name="Imagem 3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6" name="Imagem 35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6"/>
          <p:cNvPicPr/>
          <p:nvPr/>
        </p:nvPicPr>
        <p:blipFill>
          <a:blip r:embed="rId14"/>
          <a:stretch/>
        </p:blipFill>
        <p:spPr>
          <a:xfrm>
            <a:off x="0" y="0"/>
            <a:ext cx="9142560" cy="687564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do título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2.º nível da estrutura de tópicos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3.º nível da estrutura de tópicos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4.º nível da estrutura de tópicos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5.º nível da estrutura de tópicos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6.º nível da estrutura de tópicos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endParaRPr lang="en-US" sz="4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800" b="1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800" b="1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OS GÊNEROS LITERÁRIOS NA BÍBLIA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Introdução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Dentre os instrumentos que facilitam a interpretação do texto bíblico de modo mais fiel, temos a análise do Género Literário, isto é: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forma de escrever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50000"/>
              </a:lnSpc>
              <a:buClr>
                <a:srgbClr val="000000"/>
              </a:buClr>
              <a:buFont typeface="Wingdings" charset="2"/>
              <a:buChar char=""/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organização do texto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Cada gênero literário tem suas características próprias e suas peculiaridades.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6863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Introdução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Este ensino tem como objetivo dar uma visão geral dos géneros literários presentes na Bíblia, a fim de criar a consciência nos pregadores que tais elementos existem e são um auxílio valioso para melhor compreender a Bíblia.</a:t>
            </a:r>
            <a:r>
              <a:rPr lang="en-US" sz="280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Desde o século XX, estudiosos fazem a comparação dos textos da Bíblia, começando a listar as características próprias de cada gênero. 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8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Seguem alguns destes gêneros: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Novela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Gênero das Leis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Gênero Discursos e Ensinamentos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Vocação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Não-Vocação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Milagres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As parábolas jurídicas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controvérsia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um herói menino que é exposto à morte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51" name="Imagem 1"/>
          <p:cNvPicPr/>
          <p:nvPr/>
        </p:nvPicPr>
        <p:blipFill>
          <a:blip r:embed="rId3"/>
          <a:stretch/>
        </p:blipFill>
        <p:spPr>
          <a:xfrm>
            <a:off x="7308360" y="44640"/>
            <a:ext cx="1762200" cy="7437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Novela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Característica</a:t>
            </a: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– é uma narrativa relativamente longa, formada por uma série de eventos concatenados e organizadas em blocos da seguinte maneira: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5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Situação de conflito e tensão.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>
              <a:lnSpc>
                <a:spcPct val="15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conflito se complica cada vez mais e os personagens buscam solução</a:t>
            </a:r>
            <a:r>
              <a:rPr lang="en-US" sz="240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>
              <a:lnSpc>
                <a:spcPct val="15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Resolução do conflito e desaparecimento das complicações.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5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Exemplos:  Livros de Rute, Jonas e Tobias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Novela: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Dica para pregação</a:t>
            </a: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Comparar a história destes livros com a nossa vida, quando temos que lidar com conflitos e tensões, mas se perseverarmos com fé, chegará o dia de vermos estas dificuldades desaparecerem e o nome do Senhor será glorificado.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2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 das Leis: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 Gênesis a Deuteronômio (Pentateuco = Torá = Lei) os rabinos judeus encontraram 613 leis.  50% destes livros são textos legislativos.  Dentre estas leis existem dois tipos: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Leis casuísticas</a:t>
            </a: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– mostra um caso no início e depois é feita a legislação sobre esse caso. Exemplo: Lv 20,9-19.20-21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Leis apodíticas ou categóricas</a:t>
            </a: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– são leis que dão o mandamento, dão a ordem diretamente.  Exemplo: Ex 20,3-17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3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 discursos e ensinamentos: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60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Oráculo de Salvação </a:t>
            </a: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(Is 41,1-5)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2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Vocativo (chamamento)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2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Promessa de salvação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2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Motivação, introduzida pela conjunção “porque”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2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Consequências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4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Relatos de Vocação: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personagens são chamados por Deus para realizarem alguma missão.  Estes relatos seguem a mesma sequência: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4"/>
            </a:pPr>
            <a:r>
              <a:rPr lang="en-US" sz="1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Quem chama, passa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Quem chama, vê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nome do futuro vocacionado é citado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Relações de parentesco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6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vocacionado está trabalhando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presentes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Bíblia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4"/>
            </a:pP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</a:t>
            </a:r>
            <a:r>
              <a:rPr lang="en-US" sz="27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Vocação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6"/>
            </a:pP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Palavra</a:t>
            </a:r>
            <a:r>
              <a:rPr lang="en-US" sz="2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600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imperativa</a:t>
            </a:r>
            <a:r>
              <a:rPr lang="en-US" sz="2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</a:t>
            </a:r>
            <a:r>
              <a:rPr lang="en-US" sz="2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gesto</a:t>
            </a:r>
            <a:r>
              <a:rPr lang="en-US" sz="2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6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simbólico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6"/>
            </a:pPr>
            <a:r>
              <a:rPr lang="en-US" sz="26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Objeção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vocacionado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6"/>
            </a:pP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Objeção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quem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chama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6"/>
            </a:pP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Despojamento</a:t>
            </a:r>
            <a:endParaRPr lang="en-US" sz="27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ejaVu Sans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6"/>
            </a:pPr>
            <a:r>
              <a:rPr lang="en-US" sz="27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Seguimento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4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Vocação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itens G e H às vezes não aparecem.  Exemplo de relato de vocação: </a:t>
            </a: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Mc 1,16-18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Caminhando junto ao mar da Galileia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(b,c,d) viu Simão e André, o irmão de Simão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Lançavam a rede ao mar, pois eram pescadores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Disse-lhes Jesus: ”Vinde em meu seguimento e eu farei de vós pescadores de homens.”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E, imediatamente, deixando as redes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7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Eles o seguiram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5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Não-Vocação</a:t>
            </a: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(parece que a pessoa será chamada, mas não o será)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Falta o nome do não vocacionado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Falta o imperativo/gesto vocacional (a pessoa se oferece)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Jesus apresenta as condições para o seguimento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vocacionado insiste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Jesus exige um ato radical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não-vocacionado desiste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Exemplo de relato de não-vocação: Mt 8,18-22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presentes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Bíblia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6"/>
            </a:pP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</a:t>
            </a:r>
            <a:r>
              <a:rPr lang="en-US" sz="27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Existem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4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tipos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dentro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Novo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Testamento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especificamente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Evangelhos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curas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exorcismos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ressuscitações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sobre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natureza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Introdução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(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descrição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ambiente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encontro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problema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esforços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para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superá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-lo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súplica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pedinte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6000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intervenção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Jesus (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Deus no AT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daquele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que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é o canal do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presentes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Bíblia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6"/>
            </a:pP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</a:t>
            </a:r>
            <a:r>
              <a:rPr lang="en-US" sz="27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Curas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 Mc 1,29-31 e Mc 3,1-6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Exorcismos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Mc 1,23-27 e Mc 5,1-20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Ressuscitações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Mc 5,21-24 e Mc 5,35-43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Milagres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sobre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natureza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 Mc 4,37-41;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Lc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5,1-11 e Jo 2,1-11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7"/>
            </a:pP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As parábolas jurídicas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Geralmente são discussões feitas em torno da lei, sobre o cumprimento ou não cumprimento da lei: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Pré-história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profeta vai ao encontro da pessoa questionada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Parábola (acusação velada)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profeta pede o veredicto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7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As parábolas jurídicas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pessoa questionada emite o veredicto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Revelação: quem é a pessoa da qual se fala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Acusação explícita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Reações da pessoa questionada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StarSymbol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Exemplos de parábolas jurídicas:  2 Samuel 12, 1-15 /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Isaías 5, 1-7 / Lucas 7, 36-50 / Mateus 21-33-46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presentes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Bíblia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8"/>
            </a:pP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</a:t>
            </a:r>
            <a:r>
              <a:rPr lang="en-US" sz="27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Controvérsia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São as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discussões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que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acontecem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geralmente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no Novo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Testamento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onde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Jesus é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questionado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pelos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seus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adversários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Ele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dá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uma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resposta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 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8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Lucas 6,1-5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pergunta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dos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adversários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contra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pergunta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Jesus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(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não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)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resposta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dos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adversários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contra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resposta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(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não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resposta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de Jesus).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Outros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4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exemplos</a:t>
            </a:r>
            <a:r>
              <a:rPr lang="en-US" sz="24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: Mc 11,27-33 / Mc 12,13-17 / Mc 2,1-12 / 	Mc 7,1-23 / Mc 10,2-12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9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Ocorre quando um personagem da Bíblia tem alguma visão e recebe uma mensagem de Deus, ou ainda, tem uma visão bastante complexa, estranha na qual uma mensagem é dada: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As circunstâncias ou a ocasião da revelação;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participação de um acompanhante (anjo ou guia)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descrição do sonho ou da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reação de quem recebeu a revelação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9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lvl="1" indent="-21600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diálogo com o acompanhante (anjo ou guia)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600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acompanhante explica o significado da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600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5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 conclusão do episódio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Exemplos: 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Daniel: Capítulos 7 ao 12 → 04 longos relatos de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Zacarias Capítulos 1 ao 6 → 08 relatos de visão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10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um herói menino que é exposto à morte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Nestes relatos, o monarca manda matar os meninos de um povo, mas o menino que depois vai se tornar um herói e confrontar o monarca, recebe ajuda e sua vida é salva: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monarca em exercício se vê ameaçado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monarca mata ou manda matar os filhos homens do povo que o ameaça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herói é escondido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19600" indent="-2192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rabicParenR" startAt="10"/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Relatos de um herói menino que é exposto à morte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4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herói recebe ajuda de parentes a amigos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4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Alguém da realeza ou liderança adota o herói (às vezes não acontece)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marL="432000" lvl="1" indent="-215640" algn="just">
              <a:lnSpc>
                <a:spcPct val="100000"/>
              </a:lnSpc>
              <a:buClr>
                <a:srgbClr val="000000"/>
              </a:buClr>
              <a:buFont typeface="Liberation Serif"/>
              <a:buAutoNum type="alphaLcParenR" startAt="4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Confronto entre o herói e o monarca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  <a:ea typeface="Droid Sans Fallback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Exemplos: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 infância de Moisés → Êxodo 2,1-10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 relato de Joás→ 2 Reis 11,1-20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48000" lvl="2" indent="-215640" algn="just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 infância de Jesus→ Mateus 2,1-11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Gêneros literários presentes na Bíblia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7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Conclusão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n-US" sz="270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	Ter conhecimento dos gêneros literários presentas na Bíblia nos faz prestar atenção em detalhes do texto que poderiam passar desapercebidos. Ao analisar o texto, aplicando as características do gênero, teremos praticamente o roteiro da pregação, faltando apenas ressaltar a ação de Deus e atualizá-los em nossas vidas.</a:t>
            </a:r>
            <a:endParaRPr lang="en-US" sz="180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179280" y="836640"/>
            <a:ext cx="8783640" cy="5426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presentes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3000" b="1" u="sng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30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Bíblia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7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b="1" u="sng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Oficina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  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Escolha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um dos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textos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citados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como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exemplo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na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aula,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leia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-o e realize a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análise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seu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gênero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literário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apontando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também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elementos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versículos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que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aparecem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    Num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segundo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momento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junte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-se a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mais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02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pessoas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e ,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grupo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,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comentem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o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exercício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uns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 dos </a:t>
            </a:r>
            <a:r>
              <a:rPr lang="en-US" sz="270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outros</a:t>
            </a:r>
            <a:r>
              <a:rPr lang="en-US" sz="270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  <a:ea typeface="DejaVu Sans"/>
              </a:rPr>
              <a:t>.</a:t>
            </a:r>
            <a:endParaRPr lang="en-US" sz="180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Texto, Carta&#10;&#10;Descrição gerada automaticamente">
            <a:extLst>
              <a:ext uri="{FF2B5EF4-FFF2-40B4-BE49-F238E27FC236}">
                <a16:creationId xmlns:a16="http://schemas.microsoft.com/office/drawing/2014/main" id="{A22979F4-C603-7C46-2AF2-6EC2A481A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01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4089</TotalTime>
  <Words>1448</Words>
  <Application>Microsoft Office PowerPoint</Application>
  <PresentationFormat>Apresentação na tela (4:3)</PresentationFormat>
  <Paragraphs>227</Paragraphs>
  <Slides>25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Arial</vt:lpstr>
      <vt:lpstr>Liberation Serif</vt:lpstr>
      <vt:lpstr>StarSymbol</vt:lpstr>
      <vt:lpstr>Symbol</vt:lpstr>
      <vt:lpstr>Times New Roman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Airton de Oliveira Rocha Júnior</dc:creator>
  <cp:lastModifiedBy>Elvis Rodrigues</cp:lastModifiedBy>
  <cp:revision>239</cp:revision>
  <dcterms:created xsi:type="dcterms:W3CDTF">2013-05-24T19:45:47Z</dcterms:created>
  <dcterms:modified xsi:type="dcterms:W3CDTF">2024-08-02T03:34:49Z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16</vt:i4>
  </property>
  <property fmtid="{D5CDD505-2E9C-101B-9397-08002B2CF9AE}" pid="8" name="PresentationFormat">
    <vt:lpwstr>Apresentação na tela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17</vt:i4>
  </property>
</Properties>
</file>